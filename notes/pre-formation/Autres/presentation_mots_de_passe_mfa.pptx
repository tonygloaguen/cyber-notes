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(approx.)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Identifiants volés</c:v>
                  </c:pt>
                  <c:pt idx="1">
                    <c:v>Ransomware</c:v>
                  </c:pt>
                  <c:pt idx="2">
                    <c:v>Autres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23</c:v>
                </c:pt>
                <c:pt idx="2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2C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B2C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1B2A4A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Verizon, Data Breach Investigations Report (DBIR) 2024 (PDF) — statistiques sur “stolen credentials” utilisées comme action initiale : https://www.verizon.com/business/resources/reports/2024-dbir-data-breach-investigations-report.pdf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Verizon DBIR 2024 (PDF) — mention “Use of stolen credentials … still our top action at 24%” : https://www.verizon.com/business/resources/reports/2024-dbir-data-breach-investigations-report.pdf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NIST SP 800-63B — recommandations : pas de changement périodique arbitraire, éviter les règles de composition rigides, comparer contre une liste de secrets compromis : https://pages.nist.gov/800-63-4/sp800-63b.html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Microsoft Security Blog (2019) — “MFA can block over 99.9% of account compromise attacks” : https://www.microsoft.com/en-us/security/blog/2019/08/20/one-simple-action-you-can-take-to-prevent-99-9-percent-of-account-attacks/
- Microsoft Learn (2025) — “Research by Microsoft shows that MFA can block more than 99.2%...” : https://learn.microsoft.com/en-us/entra/identity/authentication/concept-mandatory-multifactor-authentication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143000"/>
            <a:ext cx="10908792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94790" y="1600200"/>
            <a:ext cx="702259" cy="526694"/>
          </a:xfrm>
          <a:prstGeom prst="roundRect">
            <a:avLst/>
          </a:prstGeom>
          <a:solidFill>
            <a:srgbClr val="0B1220">
              <a:alpha val="0"/>
            </a:srgbClr>
          </a:solidFill>
          <a:ln w="381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70786"/>
            <a:ext cx="1097280" cy="526694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2346350"/>
            <a:ext cx="109728" cy="17556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536192"/>
            <a:ext cx="822960" cy="1143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77490" y="1673352"/>
            <a:ext cx="6629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54203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36192"/>
            <a:ext cx="1143000" cy="1143000"/>
          </a:xfrm>
          <a:prstGeom prst="pentagon">
            <a:avLst/>
          </a:prstGeom>
          <a:solidFill>
            <a:srgbClr val="2F6FED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de passe &amp; MFA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09728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la cyber-négligence : règles simples, UX propre, implémentation solide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4206240"/>
            <a:ext cx="2286000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34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Idée directrice : le chemin sûr doit être le chemin facile.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>
              <a:alpha val="85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638544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Thème : mots de passe robustes + MFA (2FA) — conception produit &amp; backend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Le problème : cyber-négligence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715000" cy="24231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73152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5404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casse les comptes (le plus souvent)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5404104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Mots de passe faibles, réutilisés ou partagés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Mises à jour repoussées / dépendances obsolètes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+ “fatigue MFA” + mauvaises procédures de récupération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102352" cy="24231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005840"/>
            <a:ext cx="73152" cy="24231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170432"/>
            <a:ext cx="4791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ça arrive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47688" y="1572768"/>
            <a:ext cx="4791456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sécurité est invisible… jusqu’au jour où ça casse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privilégie la vitesse : “on verra plus tard”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produit n’aide pas : règles floues, UX punitive, manque d’automatisation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908792" cy="26517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397764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majorité des systèmes ne sont pas piratés par génie.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Ils sont offerts par confort.”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97280" y="52578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Traduction produit : enlever les choix risqués, rendre les bons choix automatiques.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Un fait utile : les identifiants volés dominent souvent l’entrée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475488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73152" cy="5303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4443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 pratique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444398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Protéger le “login” est prioritaire (avant même le reste)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mesures à meilleur ROI : mots de passe robustes + MFA + anti-bruteforce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Cibler surtout : phishing, password reuse, credential stuffing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005840"/>
            <a:ext cx="5971032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11704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DBIR 2024 — actions initiales dans les breaches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806440" y="1600200"/>
          <a:ext cx="5532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5806440" y="5806440"/>
            <a:ext cx="5532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: “identifiants volés” reste l’action initiale #1 (≈24%).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Politique de mots de passe (simple, efficace)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61188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73152" cy="5303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3300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330098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Longueur min : 12+ (phrases recommandées)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Autoriser les espaces et les mots longs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Interdire les mots de passe compromis / trop communs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005840"/>
            <a:ext cx="361188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005840"/>
            <a:ext cx="73152" cy="5303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170432"/>
            <a:ext cx="33009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qu’on évite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1572768"/>
            <a:ext cx="330098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de composition rigides (maj/min/chiffres imposés)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Changements périodiques “par défaut”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Bloquer le copier/coller (anti-gestionnaires)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005840"/>
            <a:ext cx="3319272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005840"/>
            <a:ext cx="73152" cy="53035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170432"/>
            <a:ext cx="3008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Hygiène 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1572768"/>
            <a:ext cx="3008376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fort (bcrypt/argon2id) + salage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 + backoff sur /login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 reset si suspicion de compromission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Contrôles backend : là où l’impact est maximal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62356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73152" cy="53035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5312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Contrôles indispensables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531266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+ coût calibré (et jamais en clair)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Contrainte DB “email unique” + gestion des courses (Prisma P2002)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limit: IP + compte + device fingerprint (si possible)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Lockout temporaire + alerting sur pics d’échecs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Journaux : succès/échec + IP + user-agent + corrélation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102352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11704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 login (simplifié)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4572000" cy="594360"/>
          </a:xfrm>
          <a:prstGeom prst="roundRect">
            <a:avLst/>
          </a:prstGeom>
          <a:solidFill>
            <a:srgbClr val="0E20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Vérifier identifiant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33688" y="2304288"/>
            <a:ext cx="164592" cy="201168"/>
          </a:xfrm>
          <a:prstGeom prst="downArrow">
            <a:avLst/>
          </a:prstGeom>
          <a:solidFill>
            <a:srgbClr val="AAB2C3"/>
          </a:solidFill>
          <a:ln w="12700">
            <a:solidFill>
              <a:srgbClr val="AAB2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514600"/>
            <a:ext cx="4572000" cy="594360"/>
          </a:xfrm>
          <a:prstGeom prst="roundRect">
            <a:avLst/>
          </a:prstGeom>
          <a:solidFill>
            <a:srgbClr val="0E20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651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Vérifier mot de passe (hash)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33688" y="3127248"/>
            <a:ext cx="164592" cy="201168"/>
          </a:xfrm>
          <a:prstGeom prst="downArrow">
            <a:avLst/>
          </a:prstGeom>
          <a:solidFill>
            <a:srgbClr val="AAB2C3"/>
          </a:solidFill>
          <a:ln w="12700">
            <a:solidFill>
              <a:srgbClr val="AAB2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3337560"/>
            <a:ext cx="4572000" cy="594360"/>
          </a:xfrm>
          <a:prstGeom prst="roundRect">
            <a:avLst/>
          </a:prstGeom>
          <a:solidFill>
            <a:srgbClr val="0B2A4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474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Si MFA → challenge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33688" y="3950208"/>
            <a:ext cx="164592" cy="201168"/>
          </a:xfrm>
          <a:prstGeom prst="downArrow">
            <a:avLst/>
          </a:prstGeom>
          <a:solidFill>
            <a:srgbClr val="AAB2C3"/>
          </a:solidFill>
          <a:ln w="12700">
            <a:solidFill>
              <a:srgbClr val="AAB2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160520"/>
            <a:ext cx="4572000" cy="594360"/>
          </a:xfrm>
          <a:prstGeom prst="roundRect">
            <a:avLst/>
          </a:prstGeom>
          <a:solidFill>
            <a:srgbClr val="0E203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297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JWT / session + logs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MFA : choisir le bon facteur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73152" cy="5303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Passkeys (WebAuthn/FIDO2)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343814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Résistant au phishing (clé publique/privée)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très fluide (biométrie / device)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 choix “par défaut” si possible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374904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005840"/>
            <a:ext cx="73152" cy="53035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17043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TOTP (appli Authenticator)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8888" y="1572768"/>
            <a:ext cx="343814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Robuste et largement supporté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Nécessite un onboarding clair + backup codes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 compromis sécurité/effort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95360" y="1005840"/>
            <a:ext cx="2953512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95360" y="1005840"/>
            <a:ext cx="73152" cy="5303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1170432"/>
            <a:ext cx="2642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SMS / Email OTP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96528" y="1572768"/>
            <a:ext cx="2642616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Mieux que rien, mais vulnérable (SIM swap, interception, boîte mail)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réserver au “fallback”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6355080"/>
            <a:ext cx="10908792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391656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indique que l’activation du MFA peut bloquer &gt;99% des attaques de compromission de compte.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Déploiement MFA : UX &amp; récupération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48640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73152" cy="5303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5175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Onboarding “sans friction”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517550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en 1 phrase (bénéfice), pas en jargon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 + validation immédiate (TOTP)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codes (1 fois) + rappel de sauvegarde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“se souvenir de cet appareil” (durée limitée)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5193792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005840"/>
            <a:ext cx="73152" cy="5303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170432"/>
            <a:ext cx="4882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Récupération (souvent le vrai trou)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1572768"/>
            <a:ext cx="4882896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clair : backup codes → re-vérification → support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Notifier toute désactivation MFA + nouveaux appareils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Limiter “fallback” (SMS/email) sur comptes sensibles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&amp; alertes sur changements de sécurité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7) Implémentation : NestJS / Prisma (repères)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48640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73152" cy="53035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5175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technique (minimum)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517550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User.email @unique + gestion des erreurs Prisma (P2002)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mot de passe (bcrypt/argon2id)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verification token : aléatoire + expirations + rate limit “resend”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: champs + endpoints setup/verify/disable + backup codes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 sur /login + /resend-verification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5193792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1704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Extrait (register + resend verification)</a:t>
            </a:r>
            <a:endParaRPr lang="en-US" sz="1300" dirty="0"/>
          </a:p>
        </p:txBody>
      </p:sp>
      <p:pic>
        <p:nvPicPr>
          <p:cNvPr id="11" name="Image 0" descr="/mnt/data/5efd7d30-764b-46ca-b3cd-00f40906b0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554480"/>
            <a:ext cx="501091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8) Plan d’action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5394960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05840"/>
            <a:ext cx="73152" cy="5303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0432"/>
            <a:ext cx="5084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(1 jour)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572768"/>
            <a:ext cx="508406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Longueur min 12 + blocage mots de passe compromis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 login + backoff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verification + rate limit resend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basiques (succès/échec + IP + UA)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005840"/>
            <a:ext cx="5285232" cy="5303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005840"/>
            <a:ext cx="73152" cy="53035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170432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Durcissement (1 semaine)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1572768"/>
            <a:ext cx="4974336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 TOTP + backup codes + “trusted device”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Alerting sur anomalies (password spray, credential stuffing)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 de récupération solide (anti-prise de compte)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Observabilité : dashboards + corrélation événements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10908792" cy="4663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Mots de passe : </a:t>
            </a:r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longs + non compromis + backend durci.</a:t>
            </a:r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MFA : </a:t>
            </a:r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réduit drastiquement l’impact d’un mot de passe volé.</a:t>
            </a:r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pPr indent="0" marL="0">
              <a:buNone/>
            </a:pPr>
            <a:r>
              <a:rPr lang="en-US" sz="2200" b="1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Produit : </a:t>
            </a:r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rendre le comportement sûr “par défaut”.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4343400"/>
            <a:ext cx="2834640" cy="7315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Prochaine étape : appliquer la checklist sur register/login/resend-verification + activer MFA.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220">
              <a:alpha val="85000"/>
            </a:srgbClr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638544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 — mot-clé : automatiser les bons réflexes (et limiter les erreurs humaines)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Generated by ChatGPT</cp:lastModifiedBy>
  <cp:revision>1</cp:revision>
  <dcterms:created xsi:type="dcterms:W3CDTF">2026-01-28T11:24:24Z</dcterms:created>
  <dcterms:modified xsi:type="dcterms:W3CDTF">2026-01-28T11:24:24Z</dcterms:modified>
</cp:coreProperties>
</file>